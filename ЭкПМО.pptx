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9" r:id="rId2"/>
    <p:sldId id="258" r:id="rId3"/>
    <p:sldId id="260" r:id="rId4"/>
    <p:sldId id="281" r:id="rId5"/>
    <p:sldId id="288" r:id="rId6"/>
    <p:sldId id="283" r:id="rId7"/>
    <p:sldId id="289" r:id="rId8"/>
    <p:sldId id="290" r:id="rId9"/>
    <p:sldId id="291" r:id="rId10"/>
    <p:sldId id="287" r:id="rId11"/>
    <p:sldId id="286" r:id="rId12"/>
    <p:sldId id="292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182" userDrawn="1">
          <p15:clr>
            <a:srgbClr val="A4A3A4"/>
          </p15:clr>
        </p15:guide>
        <p15:guide id="2" orient="horz" pos="4020" userDrawn="1">
          <p15:clr>
            <a:srgbClr val="A4A3A4"/>
          </p15:clr>
        </p15:guide>
        <p15:guide id="3" orient="horz" pos="6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4DB8"/>
    <a:srgbClr val="B30E0E"/>
    <a:srgbClr val="FF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53"/>
    <p:restoredTop sz="83949"/>
  </p:normalViewPr>
  <p:slideViewPr>
    <p:cSldViewPr snapToGrid="0">
      <p:cViewPr varScale="1">
        <p:scale>
          <a:sx n="102" d="100"/>
          <a:sy n="102" d="100"/>
        </p:scale>
        <p:origin x="1216" y="168"/>
      </p:cViewPr>
      <p:guideLst>
        <p:guide pos="3182"/>
        <p:guide orient="horz" pos="4020"/>
        <p:guide orient="horz" pos="640"/>
      </p:guideLst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C138CC-6407-3145-83F7-0E92E05E09B2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0D621F-83D9-F943-A518-38731092F2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9088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D621F-83D9-F943-A518-38731092F2D4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89350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D621F-83D9-F943-A518-38731092F2D4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06607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B1AA0-8F19-463F-02A9-EA174234C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A4DC8B0-BD0A-F95A-3D38-D65CD35D67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DB4DC57-8AB6-9A92-AA41-B5E56BAC85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4558ED-0588-95E6-3474-A75E708866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D621F-83D9-F943-A518-38731092F2D4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4891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ACC46B-A85C-ED1B-E6A6-2A95670F26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46BFEA4-FAD1-8AF2-B250-4E519EBFE8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31D81B9-0FE9-4712-16E0-DB29D1665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1E4CF-D7BF-AC46-981B-D5FCB9370AD4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3A09432-9D61-68C2-3840-27D6AA5E3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70EAE8-8965-9768-5B0B-E635AD565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CC346-6E04-6149-979D-00872C98FE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4185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BA444C-BB17-2C19-2CC3-E3DADC974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B80632-B39E-8E87-F056-4F8994BDE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7382A4-4E48-D6C7-113E-C2B803923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1E4CF-D7BF-AC46-981B-D5FCB9370AD4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89469A4-2B83-4697-298F-3B9E2A33F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5231BD-124E-09F6-B885-172FFB813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CC346-6E04-6149-979D-00872C98FE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5920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DE6C7E-0091-4C9C-252B-C9F9137BC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AED3D21-F9D2-7EE3-0704-6F1D8E08D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9ADF0B9-58B9-067E-C854-BA6C0DC87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1E4CF-D7BF-AC46-981B-D5FCB9370AD4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5EACD24-1049-A742-F3CF-4FB7701A2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E1183F-4AC1-FDCE-6444-98011B09B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CC346-6E04-6149-979D-00872C98FE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2600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5A24D6-1F49-A9A0-3141-B15445F2C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185986-FED0-8D71-6E02-51235E22E5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862E863-1554-58E7-77A4-BDD9DED442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0F1F468-CF24-A682-8AFF-BD8C09018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1E4CF-D7BF-AC46-981B-D5FCB9370AD4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FD98A02-9254-14B5-5F75-7E47E817D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352C1A8-47A7-5A3F-B9C4-C816EB84A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CC346-6E04-6149-979D-00872C98FE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3954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35EE80-826B-6089-B443-CED884A24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1EF186D-6196-16EA-7A73-7C22E2F78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A0BFC93-2458-8FA0-B805-1AFD10AA83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2146C71-278F-D2F4-F621-83D204CA20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97F625D-4CDF-C165-3EBC-94F4F03A2B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981CE40-6381-339F-F9EB-69E1E33A2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1E4CF-D7BF-AC46-981B-D5FCB9370AD4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8A80238-66A6-85D6-E5CE-69E72D195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19B054E-2763-C042-4C2D-34075CC48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CC346-6E04-6149-979D-00872C98FE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2125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82534B-687D-88D1-8445-D8DDA2C97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0BFE3-55A8-497C-5CEB-85262C74C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1E4CF-D7BF-AC46-981B-D5FCB9370AD4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F431308-4D46-4A11-E459-56E7D1E28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58F0A59-00FD-AF2A-FC76-25EAEA67B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CC346-6E04-6149-979D-00872C98FE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0001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57CE64D-8978-657D-72C8-74E534D79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1E4CF-D7BF-AC46-981B-D5FCB9370AD4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4C93536-DFF5-771E-F026-1385B1DB8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25C2561-11F3-867E-A396-2CC30CEA0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CC346-6E04-6149-979D-00872C98FE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8444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9D8EC5-75EF-8AA4-2E79-84146CA25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082CAE-14C9-A6F7-6FE7-39E1BC94C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7E310ED-9236-7896-0205-3656D185A2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593A71F-370B-8672-8525-8563CF964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1E4CF-D7BF-AC46-981B-D5FCB9370AD4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621AC93-B7F2-AF79-F124-08514549B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7BDE970-37EF-B05A-5FE8-5692966F0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CC346-6E04-6149-979D-00872C98FE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7216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EE4630-F217-1C69-06EC-A80438086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BC06253-4A18-1554-8BE1-64B0F421A5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032E434-239F-829B-B0DA-F2E9C64AF3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0241F83-4A86-31A2-EA24-859EB5A64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1E4CF-D7BF-AC46-981B-D5FCB9370AD4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4B9E1F3-84AC-ABBA-C8BD-80AFCDFC7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A14BA2E-2178-F250-1C7F-5491809A1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CC346-6E04-6149-979D-00872C98FE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4466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9C18A4-1CAC-3111-8A9C-FDFBA5635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C62D568-BF28-7554-51EE-363EC5723C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29CA10F-C65C-F26F-5C4F-0D41E9E1C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1E4CF-D7BF-AC46-981B-D5FCB9370AD4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1DBF33-1EE8-1335-F487-AF1279271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FDAE096-C8F2-A8AD-2A81-240EEC70A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CC346-6E04-6149-979D-00872C98FE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4820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493D49D-7E4B-683A-F7F1-2DBEC41E58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4D27F4C-A834-0D2E-BD26-B506DA9DA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5BDC503-07E0-E416-9124-B12453295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1E4CF-D7BF-AC46-981B-D5FCB9370AD4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195DF1A-3425-7CAF-8EE5-D840D5486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A7DEAC-A890-82B6-5A18-6F4A9CB92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CC346-6E04-6149-979D-00872C98FE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2424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8275DD-D76D-CF7D-7099-5147E69AE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100674-2942-DB92-D248-9C78B7E9D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C20ED7E-6352-C02D-FD09-D8C9061660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81E4CF-D7BF-AC46-981B-D5FCB9370AD4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D660CC-A5D5-C572-A1FC-BA14E518E4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EB3F7E-1048-13D5-7BCF-F447FAD820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4CC346-6E04-6149-979D-00872C98FE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1958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25F1174-6944-6939-C8B5-BF2E2E13202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9000"/>
          </a:blip>
          <a:stretch>
            <a:fillRect/>
          </a:stretch>
        </p:blipFill>
        <p:spPr>
          <a:xfrm>
            <a:off x="-115910" y="-34294"/>
            <a:ext cx="8345510" cy="69265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AB395F-D39F-C4C3-2780-C6D4A04BAFEE}"/>
              </a:ext>
            </a:extLst>
          </p:cNvPr>
          <p:cNvSpPr txBox="1"/>
          <p:nvPr/>
        </p:nvSpPr>
        <p:spPr>
          <a:xfrm>
            <a:off x="8229600" y="3029753"/>
            <a:ext cx="36189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Montserrat" pitchFamily="2" charset="0"/>
              </a:rPr>
              <a:t>Исследование дорожно-транспортных происшествий в Республике Тыва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D75AA2-D6AB-BF29-E133-37CA1AEE3A02}"/>
              </a:ext>
            </a:extLst>
          </p:cNvPr>
          <p:cNvSpPr txBox="1"/>
          <p:nvPr/>
        </p:nvSpPr>
        <p:spPr>
          <a:xfrm>
            <a:off x="8229600" y="5591586"/>
            <a:ext cx="434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>
                <a:latin typeface="Montserrat" pitchFamily="2" charset="0"/>
              </a:rPr>
              <a:t>Емельяненко Мари </a:t>
            </a:r>
          </a:p>
          <a:p>
            <a:r>
              <a:rPr lang="ru-RU" sz="1200" b="1" dirty="0">
                <a:latin typeface="Montserrat" pitchFamily="2" charset="0"/>
              </a:rPr>
              <a:t>Тетерина Марина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CA67E84-4716-3828-B6D7-20C78EADD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283" y="272434"/>
            <a:ext cx="3473280" cy="2450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909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0DA79-CCD6-ECB3-93AA-0C3C16359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C0729FDB-2089-0567-4E03-0F98F64393EF}"/>
              </a:ext>
            </a:extLst>
          </p:cNvPr>
          <p:cNvSpPr txBox="1"/>
          <p:nvPr/>
        </p:nvSpPr>
        <p:spPr>
          <a:xfrm>
            <a:off x="322880" y="811206"/>
            <a:ext cx="8296457" cy="8925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ru-RU" sz="1600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Цель проекта</a:t>
            </a:r>
          </a:p>
          <a:p>
            <a:r>
              <a:rPr lang="ru-RU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оценить факторы, влияющие на вероятность фатального исхода ДТП в Республике Тыва и эмпирически проверить, позволяют ли методы машинного обучения выявлять более сложную структуру факторов риска фатальных ДТП по сравнению с линейными моделями.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C59611-E129-DF67-E2E2-2A600C4EF56A}"/>
              </a:ext>
            </a:extLst>
          </p:cNvPr>
          <p:cNvSpPr txBox="1"/>
          <p:nvPr/>
        </p:nvSpPr>
        <p:spPr>
          <a:xfrm>
            <a:off x="8619338" y="5378431"/>
            <a:ext cx="3286619" cy="9541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ru-RU" sz="1600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Целевая переменная</a:t>
            </a:r>
          </a:p>
          <a:p>
            <a:r>
              <a:rPr lang="ru-RU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</a:p>
          <a:p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Fatality</a:t>
            </a:r>
            <a:r>
              <a:rPr lang="ru-RU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= 1, если есть погибшие</a:t>
            </a:r>
            <a:endParaRPr lang="en-US" sz="12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  <a:p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Fatality = 0 </a:t>
            </a:r>
            <a:r>
              <a:rPr lang="ru-RU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в ином случае</a:t>
            </a:r>
            <a:endParaRPr lang="ru-RU" sz="16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92FCE6-CED0-248A-1DD2-0B2753DD46C0}"/>
              </a:ext>
            </a:extLst>
          </p:cNvPr>
          <p:cNvSpPr txBox="1"/>
          <p:nvPr/>
        </p:nvSpPr>
        <p:spPr>
          <a:xfrm>
            <a:off x="5625877" y="2523070"/>
            <a:ext cx="6202111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ru-RU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Республика Тыва — худший регион по смертности (32,7 на 100 тыс.) 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4BD29EC-95E1-40E6-1477-6B6147A7E8BC}"/>
              </a:ext>
            </a:extLst>
          </p:cNvPr>
          <p:cNvSpPr txBox="1"/>
          <p:nvPr/>
        </p:nvSpPr>
        <p:spPr>
          <a:xfrm>
            <a:off x="9015211" y="788668"/>
            <a:ext cx="2583890" cy="10772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ru-RU" sz="1600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Данные</a:t>
            </a:r>
          </a:p>
          <a:p>
            <a:endParaRPr lang="ru-RU" sz="12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  <a:p>
            <a:r>
              <a:rPr lang="ru-RU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Период: 2021-2026</a:t>
            </a:r>
          </a:p>
          <a:p>
            <a:r>
              <a:rPr lang="ru-RU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Источник: ГИБДД</a:t>
            </a:r>
          </a:p>
          <a:p>
            <a:r>
              <a:rPr lang="ru-RU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Регион: Республика Тыва</a:t>
            </a:r>
          </a:p>
        </p:txBody>
      </p:sp>
      <p:sp>
        <p:nvSpPr>
          <p:cNvPr id="55" name="Овал 54">
            <a:extLst>
              <a:ext uri="{FF2B5EF4-FFF2-40B4-BE49-F238E27FC236}">
                <a16:creationId xmlns:a16="http://schemas.microsoft.com/office/drawing/2014/main" id="{7A754B90-2C0D-039C-D016-8EBB51950A7D}"/>
              </a:ext>
            </a:extLst>
          </p:cNvPr>
          <p:cNvSpPr>
            <a:spLocks noChangeAspect="1"/>
          </p:cNvSpPr>
          <p:nvPr/>
        </p:nvSpPr>
        <p:spPr>
          <a:xfrm>
            <a:off x="342900" y="103658"/>
            <a:ext cx="457200" cy="457200"/>
          </a:xfrm>
          <a:prstGeom prst="ellipse">
            <a:avLst/>
          </a:prstGeom>
          <a:solidFill>
            <a:srgbClr val="044D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latin typeface="Montserrat" pitchFamily="2" charset="0"/>
              </a:rPr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4166387-9EFB-C6FB-3964-820AD118708C}"/>
              </a:ext>
            </a:extLst>
          </p:cNvPr>
          <p:cNvSpPr txBox="1"/>
          <p:nvPr/>
        </p:nvSpPr>
        <p:spPr>
          <a:xfrm>
            <a:off x="850899" y="129058"/>
            <a:ext cx="48844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Montserrat" pitchFamily="2" charset="0"/>
              </a:rPr>
              <a:t>Мотивация и Данные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A9AA6BDF-5C36-3C7A-E305-31191BFD2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072" y="1991611"/>
            <a:ext cx="4762731" cy="476273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D0F523E8-D83C-1A52-B19E-E3CD6A2865E5}"/>
              </a:ext>
            </a:extLst>
          </p:cNvPr>
          <p:cNvSpPr txBox="1"/>
          <p:nvPr/>
        </p:nvSpPr>
        <p:spPr>
          <a:xfrm>
            <a:off x="5625877" y="3050417"/>
            <a:ext cx="6280080" cy="34778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ru-RU" sz="1600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Предобработка данных</a:t>
            </a:r>
          </a:p>
          <a:p>
            <a:endParaRPr lang="ru-RU" sz="1600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  <a:p>
            <a:r>
              <a:rPr lang="ru-RU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Дата происшествия разделена на </a:t>
            </a:r>
          </a:p>
          <a:p>
            <a:r>
              <a:rPr lang="en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year (</a:t>
            </a:r>
            <a:r>
              <a:rPr lang="ru-RU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год происшествия), </a:t>
            </a:r>
            <a:r>
              <a:rPr lang="en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month (</a:t>
            </a:r>
            <a:r>
              <a:rPr lang="ru-RU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месяц), </a:t>
            </a:r>
            <a:r>
              <a:rPr lang="en" sz="12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dow</a:t>
            </a:r>
            <a:r>
              <a:rPr lang="en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(</a:t>
            </a:r>
            <a:r>
              <a:rPr lang="ru-RU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день недели), </a:t>
            </a:r>
          </a:p>
          <a:p>
            <a:r>
              <a:rPr lang="en" sz="12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is_weekend</a:t>
            </a:r>
            <a:r>
              <a:rPr lang="en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(</a:t>
            </a:r>
            <a:r>
              <a:rPr lang="ru-RU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индикатор выходного дня), </a:t>
            </a:r>
            <a:r>
              <a:rPr lang="en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hour (</a:t>
            </a:r>
            <a:r>
              <a:rPr lang="ru-RU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час суток). </a:t>
            </a:r>
          </a:p>
          <a:p>
            <a:endParaRPr lang="ru-RU" sz="12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  <a:p>
            <a:r>
              <a:rPr lang="ru-RU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Категориальные признаки были закодированы с помощью </a:t>
            </a:r>
          </a:p>
          <a:p>
            <a:r>
              <a:rPr lang="en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One-Hot Encoding</a:t>
            </a:r>
            <a:r>
              <a:rPr lang="ru-RU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.</a:t>
            </a:r>
            <a:endParaRPr lang="en" sz="12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  <a:p>
            <a:endParaRPr lang="ru-RU" sz="12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  <a:p>
            <a:r>
              <a:rPr lang="ru-RU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Из набора признаков были удалены переменные, напрямую</a:t>
            </a:r>
          </a:p>
          <a:p>
            <a:r>
              <a:rPr lang="ru-RU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связанные с целевой переменной.</a:t>
            </a:r>
          </a:p>
          <a:p>
            <a:endParaRPr lang="ru-RU" sz="12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  <a:p>
            <a:r>
              <a:rPr lang="ru-RU" sz="1600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Разбиение выборки</a:t>
            </a:r>
          </a:p>
          <a:p>
            <a:endParaRPr lang="ru-RU" sz="1600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  <a:p>
            <a:r>
              <a:rPr lang="en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Train </a:t>
            </a:r>
            <a:r>
              <a:rPr lang="ru-RU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	 </a:t>
            </a:r>
            <a:r>
              <a:rPr lang="en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01.01.2021</a:t>
            </a:r>
            <a:r>
              <a:rPr lang="ru-RU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-</a:t>
            </a:r>
            <a:r>
              <a:rPr lang="ru-RU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28.02.2025</a:t>
            </a:r>
            <a:endParaRPr lang="ru-RU" sz="12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  <a:p>
            <a:r>
              <a:rPr lang="en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Validation </a:t>
            </a:r>
            <a:r>
              <a:rPr lang="ru-RU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  </a:t>
            </a:r>
            <a:r>
              <a:rPr lang="en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01.03.2025 - 31.08.2025</a:t>
            </a:r>
          </a:p>
          <a:p>
            <a:r>
              <a:rPr lang="en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Test </a:t>
            </a:r>
            <a:r>
              <a:rPr lang="ru-RU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	</a:t>
            </a:r>
            <a:r>
              <a:rPr lang="en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01.09.2025 - 31.01.2026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EEC5AF0-80BC-4134-81F1-B9FC98D2B82F}"/>
              </a:ext>
            </a:extLst>
          </p:cNvPr>
          <p:cNvSpPr txBox="1"/>
          <p:nvPr/>
        </p:nvSpPr>
        <p:spPr>
          <a:xfrm>
            <a:off x="5625877" y="2116234"/>
            <a:ext cx="57100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Выбор региона</a:t>
            </a:r>
            <a:endParaRPr lang="ru-RU" sz="1800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9108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F774F-4F25-9CA6-F805-C2E57AC66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вал 4">
            <a:extLst>
              <a:ext uri="{FF2B5EF4-FFF2-40B4-BE49-F238E27FC236}">
                <a16:creationId xmlns:a16="http://schemas.microsoft.com/office/drawing/2014/main" id="{B8A07AEB-0F89-7972-2AE5-99D70CA71A3C}"/>
              </a:ext>
            </a:extLst>
          </p:cNvPr>
          <p:cNvSpPr>
            <a:spLocks noChangeAspect="1"/>
          </p:cNvSpPr>
          <p:nvPr/>
        </p:nvSpPr>
        <p:spPr>
          <a:xfrm>
            <a:off x="342900" y="103658"/>
            <a:ext cx="457200" cy="457200"/>
          </a:xfrm>
          <a:prstGeom prst="ellipse">
            <a:avLst/>
          </a:prstGeom>
          <a:solidFill>
            <a:srgbClr val="044D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latin typeface="Montserrat" pitchFamily="2" charset="0"/>
              </a:rPr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D7BB2A-F541-1EDB-3807-905720E406A2}"/>
              </a:ext>
            </a:extLst>
          </p:cNvPr>
          <p:cNvSpPr txBox="1"/>
          <p:nvPr/>
        </p:nvSpPr>
        <p:spPr>
          <a:xfrm>
            <a:off x="850899" y="129058"/>
            <a:ext cx="56387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Montserrat" pitchFamily="2" charset="0"/>
              </a:rPr>
              <a:t>Описательная статистика (1)</a:t>
            </a:r>
          </a:p>
        </p:txBody>
      </p:sp>
      <p:pic>
        <p:nvPicPr>
          <p:cNvPr id="64" name="Рисунок 63">
            <a:extLst>
              <a:ext uri="{FF2B5EF4-FFF2-40B4-BE49-F238E27FC236}">
                <a16:creationId xmlns:a16="http://schemas.microsoft.com/office/drawing/2014/main" id="{52F5D8E0-2864-6D39-4343-1A3E7656C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136" y="4039370"/>
            <a:ext cx="6273800" cy="2476500"/>
          </a:xfrm>
          <a:prstGeom prst="rect">
            <a:avLst/>
          </a:prstGeom>
        </p:spPr>
      </p:pic>
      <p:pic>
        <p:nvPicPr>
          <p:cNvPr id="65" name="Рисунок 64">
            <a:extLst>
              <a:ext uri="{FF2B5EF4-FFF2-40B4-BE49-F238E27FC236}">
                <a16:creationId xmlns:a16="http://schemas.microsoft.com/office/drawing/2014/main" id="{20742558-038E-D63F-641B-236BF70214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9698" y="4166370"/>
            <a:ext cx="5638800" cy="2349500"/>
          </a:xfrm>
          <a:prstGeom prst="rect">
            <a:avLst/>
          </a:prstGeom>
        </p:spPr>
      </p:pic>
      <p:pic>
        <p:nvPicPr>
          <p:cNvPr id="66" name="Рисунок 65">
            <a:extLst>
              <a:ext uri="{FF2B5EF4-FFF2-40B4-BE49-F238E27FC236}">
                <a16:creationId xmlns:a16="http://schemas.microsoft.com/office/drawing/2014/main" id="{C27054C7-17B1-C9F0-12C7-01F1E34E77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6355" y="411019"/>
            <a:ext cx="6286500" cy="3746500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00DC11EA-1C7F-8E6D-0E4B-5A22C8F155D1}"/>
              </a:ext>
            </a:extLst>
          </p:cNvPr>
          <p:cNvSpPr txBox="1"/>
          <p:nvPr/>
        </p:nvSpPr>
        <p:spPr>
          <a:xfrm>
            <a:off x="342900" y="760775"/>
            <a:ext cx="563879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Montserrat" pitchFamily="2" charset="0"/>
              </a:rPr>
              <a:t>Пик аварийности приходится на 17–20 часов, а к выходным наблюдается рост по сравнению с серединой недели. </a:t>
            </a:r>
          </a:p>
          <a:p>
            <a:endParaRPr lang="ru-RU" sz="1600" dirty="0">
              <a:latin typeface="Montserrat" pitchFamily="2" charset="0"/>
            </a:endParaRPr>
          </a:p>
          <a:p>
            <a:r>
              <a:rPr lang="ru-RU" sz="1600" dirty="0">
                <a:latin typeface="Montserrat" pitchFamily="2" charset="0"/>
              </a:rPr>
              <a:t>Структурно почти 75% всех происшествий формируют три типа аварий — столкновения (29,3%), наезды на пешеходов (27,7%) и съезды с дороги (19%).</a:t>
            </a:r>
          </a:p>
          <a:p>
            <a:endParaRPr lang="ru-RU" sz="1600" dirty="0">
              <a:latin typeface="Montserrat" pitchFamily="2" charset="0"/>
            </a:endParaRPr>
          </a:p>
          <a:p>
            <a:r>
              <a:rPr lang="ru-RU" sz="1600" dirty="0">
                <a:latin typeface="Montserrat" pitchFamily="2" charset="0"/>
              </a:rPr>
              <a:t>Следствие, что интенсивность движения и дорожная инфраструктура – доминанты в формировании общей аварийности региона.</a:t>
            </a:r>
          </a:p>
        </p:txBody>
      </p:sp>
    </p:spTree>
    <p:extLst>
      <p:ext uri="{BB962C8B-B14F-4D97-AF65-F5344CB8AC3E}">
        <p14:creationId xmlns:p14="http://schemas.microsoft.com/office/powerpoint/2010/main" val="4253146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814C6-FD17-F1ED-2F17-359DD9C7B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1D783781-34A7-ED9F-E9B2-24CD4143AF4D}"/>
              </a:ext>
            </a:extLst>
          </p:cNvPr>
          <p:cNvSpPr/>
          <p:nvPr/>
        </p:nvSpPr>
        <p:spPr>
          <a:xfrm>
            <a:off x="0" y="3979660"/>
            <a:ext cx="12192000" cy="1580766"/>
          </a:xfrm>
          <a:prstGeom prst="roundRect">
            <a:avLst>
              <a:gd name="adj" fmla="val 607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77250431-EE43-4A9B-AD5F-F3971273CC17}"/>
              </a:ext>
            </a:extLst>
          </p:cNvPr>
          <p:cNvSpPr>
            <a:spLocks noChangeAspect="1"/>
          </p:cNvSpPr>
          <p:nvPr/>
        </p:nvSpPr>
        <p:spPr>
          <a:xfrm>
            <a:off x="342900" y="103658"/>
            <a:ext cx="457200" cy="457200"/>
          </a:xfrm>
          <a:prstGeom prst="ellipse">
            <a:avLst/>
          </a:prstGeom>
          <a:solidFill>
            <a:srgbClr val="044D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latin typeface="Montserrat" pitchFamily="2" charset="0"/>
              </a:rPr>
              <a:t>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52A693-4A19-851A-83C3-6FA115E0F829}"/>
              </a:ext>
            </a:extLst>
          </p:cNvPr>
          <p:cNvSpPr txBox="1"/>
          <p:nvPr/>
        </p:nvSpPr>
        <p:spPr>
          <a:xfrm>
            <a:off x="850899" y="129058"/>
            <a:ext cx="56387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Montserrat" pitchFamily="2" charset="0"/>
              </a:rPr>
              <a:t>Базовая модель </a:t>
            </a:r>
            <a:r>
              <a:rPr lang="en-US" sz="2000" b="1" dirty="0">
                <a:latin typeface="Montserrat" pitchFamily="2" charset="0"/>
              </a:rPr>
              <a:t>Logit</a:t>
            </a:r>
            <a:endParaRPr lang="ru-RU" sz="2000" b="1" dirty="0">
              <a:latin typeface="Montserrat" pitchFamily="2" charset="0"/>
            </a:endParaRP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2D9E5399-A579-2386-527F-89A192A6A2FC}"/>
              </a:ext>
            </a:extLst>
          </p:cNvPr>
          <p:cNvCxnSpPr>
            <a:cxnSpLocks/>
          </p:cNvCxnSpPr>
          <p:nvPr/>
        </p:nvCxnSpPr>
        <p:spPr>
          <a:xfrm>
            <a:off x="263929" y="623388"/>
            <a:ext cx="676800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81C2EDC5-52D9-F12D-D2E2-EC9DA0AE47E0}"/>
              </a:ext>
            </a:extLst>
          </p:cNvPr>
          <p:cNvCxnSpPr>
            <a:cxnSpLocks/>
          </p:cNvCxnSpPr>
          <p:nvPr/>
        </p:nvCxnSpPr>
        <p:spPr>
          <a:xfrm>
            <a:off x="4748867" y="623388"/>
            <a:ext cx="676800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DD23BD9-E77C-CE70-1443-F0D77B6A038B}"/>
              </a:ext>
            </a:extLst>
          </p:cNvPr>
          <p:cNvSpPr txBox="1"/>
          <p:nvPr/>
        </p:nvSpPr>
        <p:spPr>
          <a:xfrm>
            <a:off x="1372770" y="4046768"/>
            <a:ext cx="227515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STRICT</a:t>
            </a:r>
            <a:endParaRPr lang="ru-RU" sz="2000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  <a:p>
            <a:endParaRPr lang="ru-RU" sz="2000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ROC-AUC </a:t>
            </a:r>
            <a:r>
              <a:rPr lang="en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≈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0.67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F1 </a:t>
            </a:r>
            <a:r>
              <a:rPr lang="en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≈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0.28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Recall </a:t>
            </a:r>
            <a:r>
              <a:rPr lang="en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≈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0.33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22C26A-45A2-2FC6-F869-7A53A5540854}"/>
              </a:ext>
            </a:extLst>
          </p:cNvPr>
          <p:cNvSpPr txBox="1"/>
          <p:nvPr/>
        </p:nvSpPr>
        <p:spPr>
          <a:xfrm>
            <a:off x="6941777" y="4046768"/>
            <a:ext cx="227515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EXTENDED</a:t>
            </a:r>
            <a:endParaRPr lang="ru-RU" sz="2000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  <a:p>
            <a:endParaRPr lang="ru-RU" sz="2000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ROC-AUC </a:t>
            </a:r>
            <a:r>
              <a:rPr lang="en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≈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0.69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F1 </a:t>
            </a:r>
            <a:r>
              <a:rPr lang="en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≈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0.35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Recall </a:t>
            </a:r>
            <a:r>
              <a:rPr lang="en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≈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0.8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7E83ADB-49F9-5C88-0E1E-22C03D168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904" y="877407"/>
            <a:ext cx="4039529" cy="310225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BC043CC-44A5-69D3-AFE7-153884A82B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3513" y="883158"/>
            <a:ext cx="4039529" cy="310225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5C668E0-2926-6979-8052-C32BE2D48BFC}"/>
              </a:ext>
            </a:extLst>
          </p:cNvPr>
          <p:cNvSpPr txBox="1"/>
          <p:nvPr/>
        </p:nvSpPr>
        <p:spPr>
          <a:xfrm>
            <a:off x="1334410" y="5672431"/>
            <a:ext cx="10857590" cy="1846659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r>
              <a:rPr lang="ru-RU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Наезд на пешехода → 	 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x </a:t>
            </a:r>
            <a:r>
              <a:rPr lang="ru-RU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2.2</a:t>
            </a:r>
          </a:p>
          <a:p>
            <a:r>
              <a:rPr lang="ru-RU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Велосипедист → 		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x 3</a:t>
            </a:r>
            <a:endParaRPr lang="ru-RU" sz="16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  <a:p>
            <a:r>
              <a:rPr lang="ru-RU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Съезд с дороги → 	 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x</a:t>
            </a:r>
            <a:r>
              <a:rPr lang="ru-RU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1.9</a:t>
            </a:r>
            <a:endParaRPr lang="en-US" sz="16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  <a:p>
            <a:r>
              <a:rPr lang="ru-RU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Сухое покрытие → 	 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x 2</a:t>
            </a:r>
            <a:r>
              <a:rPr lang="ru-RU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.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1</a:t>
            </a:r>
            <a:endParaRPr lang="ru-RU" sz="16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  <a:p>
            <a:endParaRPr lang="ru-RU" sz="16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  <a:p>
            <a:endParaRPr lang="ru-RU" sz="16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  <a:p>
            <a:endParaRPr lang="en-US" sz="16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  <a:p>
            <a:r>
              <a:rPr lang="ru-RU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Дождь и снегопад → рост риска на +60-100%</a:t>
            </a:r>
            <a:endParaRPr lang="en-US" sz="16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  <a:p>
            <a:r>
              <a:rPr lang="ru-RU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Метель → снижение риска на -68%</a:t>
            </a:r>
          </a:p>
          <a:p>
            <a:r>
              <a:rPr lang="ru-RU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Светлое время суток → снижение риска на -40%</a:t>
            </a:r>
          </a:p>
        </p:txBody>
      </p:sp>
    </p:spTree>
    <p:extLst>
      <p:ext uri="{BB962C8B-B14F-4D97-AF65-F5344CB8AC3E}">
        <p14:creationId xmlns:p14="http://schemas.microsoft.com/office/powerpoint/2010/main" val="2196854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814C6-FD17-F1ED-2F17-359DD9C7B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C7F351DF-0E59-4A5C-B1DE-05FF280C0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157" y="903504"/>
            <a:ext cx="6723743" cy="3905908"/>
          </a:xfrm>
          <a:prstGeom prst="rect">
            <a:avLst/>
          </a:prstGeom>
        </p:spPr>
      </p:pic>
      <p:sp>
        <p:nvSpPr>
          <p:cNvPr id="5" name="Овал 4">
            <a:extLst>
              <a:ext uri="{FF2B5EF4-FFF2-40B4-BE49-F238E27FC236}">
                <a16:creationId xmlns:a16="http://schemas.microsoft.com/office/drawing/2014/main" id="{77250431-EE43-4A9B-AD5F-F3971273CC17}"/>
              </a:ext>
            </a:extLst>
          </p:cNvPr>
          <p:cNvSpPr>
            <a:spLocks noChangeAspect="1"/>
          </p:cNvSpPr>
          <p:nvPr/>
        </p:nvSpPr>
        <p:spPr>
          <a:xfrm>
            <a:off x="342900" y="103658"/>
            <a:ext cx="457200" cy="457200"/>
          </a:xfrm>
          <a:prstGeom prst="ellipse">
            <a:avLst/>
          </a:prstGeom>
          <a:solidFill>
            <a:srgbClr val="044D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latin typeface="Montserrat" pitchFamily="2" charset="0"/>
              </a:rPr>
              <a:t>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52A693-4A19-851A-83C3-6FA115E0F829}"/>
              </a:ext>
            </a:extLst>
          </p:cNvPr>
          <p:cNvSpPr txBox="1"/>
          <p:nvPr/>
        </p:nvSpPr>
        <p:spPr>
          <a:xfrm>
            <a:off x="850899" y="129058"/>
            <a:ext cx="56387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Montserrat" pitchFamily="2" charset="0"/>
              </a:rPr>
              <a:t>Базовые модели 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2D9E5399-A579-2386-527F-89A192A6A2FC}"/>
              </a:ext>
            </a:extLst>
          </p:cNvPr>
          <p:cNvCxnSpPr>
            <a:cxnSpLocks/>
          </p:cNvCxnSpPr>
          <p:nvPr/>
        </p:nvCxnSpPr>
        <p:spPr>
          <a:xfrm>
            <a:off x="329076" y="713687"/>
            <a:ext cx="676800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81C2EDC5-52D9-F12D-D2E2-EC9DA0AE47E0}"/>
              </a:ext>
            </a:extLst>
          </p:cNvPr>
          <p:cNvCxnSpPr>
            <a:cxnSpLocks/>
          </p:cNvCxnSpPr>
          <p:nvPr/>
        </p:nvCxnSpPr>
        <p:spPr>
          <a:xfrm>
            <a:off x="4760019" y="713687"/>
            <a:ext cx="676800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DD92A0C8-6EF0-CFBB-A857-3495FB46D457}"/>
              </a:ext>
            </a:extLst>
          </p:cNvPr>
          <p:cNvSpPr/>
          <p:nvPr/>
        </p:nvSpPr>
        <p:spPr>
          <a:xfrm>
            <a:off x="3333823" y="190154"/>
            <a:ext cx="1548420" cy="339013"/>
          </a:xfrm>
          <a:prstGeom prst="roundRect">
            <a:avLst>
              <a:gd name="adj" fmla="val 50000"/>
            </a:avLst>
          </a:prstGeom>
          <a:solidFill>
            <a:srgbClr val="044D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ontserrat" pitchFamily="2" charset="0"/>
              </a:rPr>
              <a:t>L1-LOGIT</a:t>
            </a:r>
            <a:endParaRPr lang="ru-RU" dirty="0">
              <a:latin typeface="Montserrat" pitchFamily="2" charset="0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DB418549-48C4-B06D-379C-DB84C435A6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7900" y="996768"/>
            <a:ext cx="4864100" cy="356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0531F6A-B546-3147-60C9-5230294F74E2}"/>
              </a:ext>
            </a:extLst>
          </p:cNvPr>
          <p:cNvSpPr txBox="1"/>
          <p:nvPr/>
        </p:nvSpPr>
        <p:spPr>
          <a:xfrm>
            <a:off x="548821" y="5053355"/>
            <a:ext cx="922564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>
                <a:latin typeface="Montserrat" pitchFamily="2" charset="0"/>
              </a:rPr>
              <a:t>L1-LOGIT EXTENDED (TEST)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Montserrat" pitchFamily="2" charset="0"/>
              </a:rPr>
              <a:t>ROC-AUC: 0.672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Montserrat" pitchFamily="2" charset="0"/>
              </a:rPr>
              <a:t>PR-AUC: 0.236</a:t>
            </a:r>
          </a:p>
          <a:p>
            <a:pPr>
              <a:buNone/>
            </a:pPr>
            <a:r>
              <a:rPr lang="en-GB" dirty="0">
                <a:latin typeface="Montserrat" pitchFamily="2" charset="0"/>
              </a:rPr>
              <a:t>Confusion matrix</a:t>
            </a:r>
            <a:r>
              <a:rPr lang="ru-RU" dirty="0">
                <a:latin typeface="Montserrat" pitchFamily="2" charset="0"/>
              </a:rPr>
              <a:t>: </a:t>
            </a:r>
          </a:p>
          <a:p>
            <a:pPr>
              <a:buNone/>
            </a:pPr>
            <a:r>
              <a:rPr lang="en-GB" dirty="0">
                <a:latin typeface="Montserrat" pitchFamily="2" charset="0"/>
              </a:rPr>
              <a:t>TN=67, FP=95</a:t>
            </a:r>
          </a:p>
          <a:p>
            <a:r>
              <a:rPr lang="en-GB" dirty="0">
                <a:latin typeface="Montserrat" pitchFamily="2" charset="0"/>
              </a:rPr>
              <a:t>FN=4, TP=26</a:t>
            </a:r>
          </a:p>
        </p:txBody>
      </p:sp>
      <p:graphicFrame>
        <p:nvGraphicFramePr>
          <p:cNvPr id="13" name="Таблица 12">
            <a:extLst>
              <a:ext uri="{FF2B5EF4-FFF2-40B4-BE49-F238E27FC236}">
                <a16:creationId xmlns:a16="http://schemas.microsoft.com/office/drawing/2014/main" id="{489BEB99-0B75-6272-9956-A23B637060C8}"/>
              </a:ext>
            </a:extLst>
          </p:cNvPr>
          <p:cNvGraphicFramePr>
            <a:graphicFrameLocks noGrp="1"/>
          </p:cNvGraphicFramePr>
          <p:nvPr/>
        </p:nvGraphicFramePr>
        <p:xfrm>
          <a:off x="850899" y="1009696"/>
          <a:ext cx="6246177" cy="3693523"/>
        </p:xfrm>
        <a:graphic>
          <a:graphicData uri="http://schemas.openxmlformats.org/drawingml/2006/table">
            <a:tbl>
              <a:tblPr/>
              <a:tblGrid>
                <a:gridCol w="2008414">
                  <a:extLst>
                    <a:ext uri="{9D8B030D-6E8A-4147-A177-3AD203B41FA5}">
                      <a16:colId xmlns:a16="http://schemas.microsoft.com/office/drawing/2014/main" val="3727436561"/>
                    </a:ext>
                  </a:extLst>
                </a:gridCol>
                <a:gridCol w="2155704">
                  <a:extLst>
                    <a:ext uri="{9D8B030D-6E8A-4147-A177-3AD203B41FA5}">
                      <a16:colId xmlns:a16="http://schemas.microsoft.com/office/drawing/2014/main" val="1053205019"/>
                    </a:ext>
                  </a:extLst>
                </a:gridCol>
                <a:gridCol w="2082059">
                  <a:extLst>
                    <a:ext uri="{9D8B030D-6E8A-4147-A177-3AD203B41FA5}">
                      <a16:colId xmlns:a16="http://schemas.microsoft.com/office/drawing/2014/main" val="3523409269"/>
                    </a:ext>
                  </a:extLst>
                </a:gridCol>
              </a:tblGrid>
              <a:tr h="538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Montserrat" pitchFamily="2" charset="0"/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>
                          <a:latin typeface="Montserrat" pitchFamily="2" charset="0"/>
                        </a:rPr>
                        <a:t>Coefficient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dirty="0">
                          <a:latin typeface="Montserrat" pitchFamily="2" charset="0"/>
                        </a:rPr>
                        <a:t>Odds Ratio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7341291"/>
                  </a:ext>
                </a:extLst>
              </a:tr>
              <a:tr h="2057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latin typeface="Montserrat" pitchFamily="2" charset="0"/>
                        </a:rPr>
                        <a:t>Значение дороги = Местного значения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dirty="0">
                          <a:latin typeface="Montserrat" pitchFamily="2" charset="0"/>
                        </a:rPr>
                        <a:t>-0.345433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dirty="0">
                          <a:latin typeface="Montserrat" pitchFamily="2" charset="0"/>
                        </a:rPr>
                        <a:t>0.707914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966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Montserrat" pitchFamily="2" charset="0"/>
                        </a:rPr>
                        <a:t>month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dirty="0">
                          <a:latin typeface="Montserrat" pitchFamily="2" charset="0"/>
                        </a:rPr>
                        <a:t>0.045173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dirty="0">
                          <a:latin typeface="Montserrat" pitchFamily="2" charset="0"/>
                        </a:rPr>
                        <a:t>1.046209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67249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Montserrat" pitchFamily="2" charset="0"/>
                        </a:rPr>
                        <a:t>hour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>
                          <a:latin typeface="Montserrat" pitchFamily="2" charset="0"/>
                        </a:rPr>
                        <a:t>-0.023756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dirty="0">
                          <a:latin typeface="Montserrat" pitchFamily="2" charset="0"/>
                        </a:rPr>
                        <a:t>0.976524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998157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Montserrat" pitchFamily="2" charset="0"/>
                        </a:rPr>
                        <a:t>mean_car_age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>
                          <a:latin typeface="Montserrat" pitchFamily="2" charset="0"/>
                        </a:rPr>
                        <a:t>0.011451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RU" dirty="0">
                          <a:latin typeface="Montserrat" pitchFamily="2" charset="0"/>
                        </a:rPr>
                        <a:t>1.011517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1733950"/>
                  </a:ext>
                </a:extLst>
              </a:tr>
            </a:tbl>
          </a:graphicData>
        </a:graphic>
      </p:graphicFrame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4E060139-7797-8DF2-DE87-0D77B56F414A}"/>
              </a:ext>
            </a:extLst>
          </p:cNvPr>
          <p:cNvCxnSpPr/>
          <p:nvPr/>
        </p:nvCxnSpPr>
        <p:spPr>
          <a:xfrm>
            <a:off x="2988129" y="996768"/>
            <a:ext cx="0" cy="3812644"/>
          </a:xfrm>
          <a:prstGeom prst="line">
            <a:avLst/>
          </a:prstGeom>
          <a:ln>
            <a:solidFill>
              <a:schemeClr val="tx1">
                <a:alpha val="16003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2326A413-E56A-0CB4-F077-F547771D315B}"/>
              </a:ext>
            </a:extLst>
          </p:cNvPr>
          <p:cNvCxnSpPr/>
          <p:nvPr/>
        </p:nvCxnSpPr>
        <p:spPr>
          <a:xfrm>
            <a:off x="5434550" y="996768"/>
            <a:ext cx="0" cy="3812644"/>
          </a:xfrm>
          <a:prstGeom prst="line">
            <a:avLst/>
          </a:prstGeom>
          <a:ln>
            <a:solidFill>
              <a:schemeClr val="tx1">
                <a:alpha val="16003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C9FE8B3F-E252-857A-C0FB-2E7682EB1211}"/>
              </a:ext>
            </a:extLst>
          </p:cNvPr>
          <p:cNvCxnSpPr/>
          <p:nvPr/>
        </p:nvCxnSpPr>
        <p:spPr>
          <a:xfrm>
            <a:off x="604157" y="1700463"/>
            <a:ext cx="6723743" cy="0"/>
          </a:xfrm>
          <a:prstGeom prst="line">
            <a:avLst/>
          </a:prstGeom>
          <a:ln>
            <a:solidFill>
              <a:schemeClr val="tx1">
                <a:alpha val="16186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20AEBF34-25E7-5F5E-B1A1-DFD127819BD8}"/>
              </a:ext>
            </a:extLst>
          </p:cNvPr>
          <p:cNvCxnSpPr/>
          <p:nvPr/>
        </p:nvCxnSpPr>
        <p:spPr>
          <a:xfrm>
            <a:off x="612115" y="3429000"/>
            <a:ext cx="6723743" cy="0"/>
          </a:xfrm>
          <a:prstGeom prst="line">
            <a:avLst/>
          </a:prstGeom>
          <a:ln>
            <a:solidFill>
              <a:schemeClr val="tx1">
                <a:alpha val="16186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7665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BA7E5-CA0C-F35D-4C95-E7EBABEEB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11345704-06F9-85AB-0101-330288BB6E68}"/>
              </a:ext>
            </a:extLst>
          </p:cNvPr>
          <p:cNvSpPr/>
          <p:nvPr/>
        </p:nvSpPr>
        <p:spPr>
          <a:xfrm>
            <a:off x="-12135" y="5024110"/>
            <a:ext cx="12192000" cy="1580766"/>
          </a:xfrm>
          <a:prstGeom prst="roundRect">
            <a:avLst>
              <a:gd name="adj" fmla="val 607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FDD7570A-E3E1-F2B9-5198-6DEE80EDF4E0}"/>
              </a:ext>
            </a:extLst>
          </p:cNvPr>
          <p:cNvSpPr>
            <a:spLocks noChangeAspect="1"/>
          </p:cNvSpPr>
          <p:nvPr/>
        </p:nvSpPr>
        <p:spPr>
          <a:xfrm>
            <a:off x="342900" y="103658"/>
            <a:ext cx="457200" cy="457200"/>
          </a:xfrm>
          <a:prstGeom prst="ellipse">
            <a:avLst/>
          </a:prstGeom>
          <a:solidFill>
            <a:srgbClr val="044D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latin typeface="Montserrat" pitchFamily="2" charset="0"/>
              </a:rPr>
              <a:t>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901167-FCCD-1570-3355-7F52EB30EE19}"/>
              </a:ext>
            </a:extLst>
          </p:cNvPr>
          <p:cNvSpPr txBox="1"/>
          <p:nvPr/>
        </p:nvSpPr>
        <p:spPr>
          <a:xfrm>
            <a:off x="850899" y="129058"/>
            <a:ext cx="56387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2000" b="1" dirty="0">
                <a:latin typeface="Montserrat" pitchFamily="2" charset="0"/>
              </a:rPr>
              <a:t>Generalized additive model</a:t>
            </a:r>
          </a:p>
          <a:p>
            <a:endParaRPr lang="ru-RU" sz="2000" b="1" dirty="0">
              <a:latin typeface="Montserrat" pitchFamily="2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3E14CE1-BA9C-2D24-621D-D8844BA5D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927" y="627295"/>
            <a:ext cx="9277483" cy="427506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1E5D12A-DA8F-285D-957F-7F3325453B29}"/>
              </a:ext>
            </a:extLst>
          </p:cNvPr>
          <p:cNvSpPr txBox="1"/>
          <p:nvPr/>
        </p:nvSpPr>
        <p:spPr>
          <a:xfrm>
            <a:off x="4760019" y="5127548"/>
            <a:ext cx="6265040" cy="1477328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r>
              <a:rPr lang="ru-RU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Ночью и поздним вечером</a:t>
            </a:r>
          </a:p>
          <a:p>
            <a:r>
              <a:rPr lang="ru-RU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К осени и началу зимы</a:t>
            </a:r>
          </a:p>
          <a:p>
            <a:r>
              <a:rPr lang="ru-RU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С увеличением возраста автомобиля</a:t>
            </a:r>
          </a:p>
          <a:p>
            <a:r>
              <a:rPr lang="ru-RU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Чем больше лиц вовлечено в аварию</a:t>
            </a:r>
          </a:p>
          <a:p>
            <a:r>
              <a:rPr lang="ru-RU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В выходные дни</a:t>
            </a:r>
            <a:endParaRPr lang="en-US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089549-AE0C-442D-E1A0-48360532DD3C}"/>
              </a:ext>
            </a:extLst>
          </p:cNvPr>
          <p:cNvSpPr txBox="1"/>
          <p:nvPr/>
        </p:nvSpPr>
        <p:spPr>
          <a:xfrm>
            <a:off x="1291927" y="5127548"/>
            <a:ext cx="33196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Рост фатальных исходов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402011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5D9FCCCF-E3C6-FD53-B1E6-CD50B319ADFA}"/>
              </a:ext>
            </a:extLst>
          </p:cNvPr>
          <p:cNvSpPr/>
          <p:nvPr/>
        </p:nvSpPr>
        <p:spPr>
          <a:xfrm>
            <a:off x="0" y="654909"/>
            <a:ext cx="12192000" cy="6203091"/>
          </a:xfrm>
          <a:prstGeom prst="roundRect">
            <a:avLst>
              <a:gd name="adj" fmla="val 4422"/>
            </a:avLst>
          </a:prstGeom>
          <a:solidFill>
            <a:schemeClr val="bg1"/>
          </a:solidFill>
          <a:ln>
            <a:noFill/>
          </a:ln>
          <a:effectLst>
            <a:outerShdw blurRad="249535" sx="100897" sy="100897" algn="ctr" rotWithShape="0">
              <a:prstClr val="black">
                <a:alpha val="4555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2400" dirty="0">
              <a:latin typeface="Montserrat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2F2E73-992C-01F7-B3E7-5F0A04B0EF09}"/>
              </a:ext>
            </a:extLst>
          </p:cNvPr>
          <p:cNvSpPr txBox="1"/>
          <p:nvPr/>
        </p:nvSpPr>
        <p:spPr>
          <a:xfrm>
            <a:off x="807720" y="254799"/>
            <a:ext cx="4044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Montserrat" pitchFamily="2" charset="0"/>
              </a:rPr>
              <a:t>Модель</a:t>
            </a: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BCF6A393-187F-3050-E280-6CD4B77FAE4D}"/>
              </a:ext>
            </a:extLst>
          </p:cNvPr>
          <p:cNvSpPr/>
          <p:nvPr/>
        </p:nvSpPr>
        <p:spPr>
          <a:xfrm>
            <a:off x="2099383" y="254800"/>
            <a:ext cx="1847777" cy="400109"/>
          </a:xfrm>
          <a:prstGeom prst="roundRect">
            <a:avLst>
              <a:gd name="adj" fmla="val 50000"/>
            </a:avLst>
          </a:prstGeom>
          <a:solidFill>
            <a:srgbClr val="044D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>
                <a:latin typeface="Montserrat" pitchFamily="2" charset="0"/>
              </a:rPr>
              <a:t>CatBoost</a:t>
            </a:r>
            <a:endParaRPr lang="ru-RU" dirty="0">
              <a:latin typeface="Montserrat" pitchFamily="2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223D777-A6F3-FD5D-37BC-B306C02AC0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751" y="849419"/>
            <a:ext cx="6111240" cy="5486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EDA76FF-7BD4-98FF-5FE6-F980F46591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19" t="1938" r="9722"/>
          <a:stretch>
            <a:fillRect/>
          </a:stretch>
        </p:blipFill>
        <p:spPr bwMode="auto">
          <a:xfrm>
            <a:off x="6310709" y="1138988"/>
            <a:ext cx="5818864" cy="5197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F27E05A-18C5-2637-C9F8-3DECC79EE645}"/>
              </a:ext>
            </a:extLst>
          </p:cNvPr>
          <p:cNvCxnSpPr>
            <a:stCxn id="6" idx="0"/>
            <a:endCxn id="6" idx="2"/>
          </p:cNvCxnSpPr>
          <p:nvPr/>
        </p:nvCxnSpPr>
        <p:spPr>
          <a:xfrm>
            <a:off x="6096000" y="654909"/>
            <a:ext cx="0" cy="6203091"/>
          </a:xfrm>
          <a:prstGeom prst="line">
            <a:avLst/>
          </a:prstGeom>
          <a:ln>
            <a:solidFill>
              <a:schemeClr val="tx1">
                <a:alpha val="19149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379C5BC6-8E91-E1F5-287F-687D5D052294}"/>
              </a:ext>
            </a:extLst>
          </p:cNvPr>
          <p:cNvSpPr/>
          <p:nvPr/>
        </p:nvSpPr>
        <p:spPr>
          <a:xfrm>
            <a:off x="4096625" y="254799"/>
            <a:ext cx="1847777" cy="400109"/>
          </a:xfrm>
          <a:prstGeom prst="roundRect">
            <a:avLst>
              <a:gd name="adj" fmla="val 50000"/>
            </a:avLst>
          </a:prstGeom>
          <a:solidFill>
            <a:srgbClr val="044D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Montserrat" pitchFamily="2" charset="0"/>
              </a:rPr>
              <a:t>SHAP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4C43FA12-4400-CB03-3B16-B804BE9AA5BD}"/>
              </a:ext>
            </a:extLst>
          </p:cNvPr>
          <p:cNvSpPr>
            <a:spLocks noChangeAspect="1"/>
          </p:cNvSpPr>
          <p:nvPr/>
        </p:nvSpPr>
        <p:spPr>
          <a:xfrm>
            <a:off x="342900" y="103658"/>
            <a:ext cx="457200" cy="457200"/>
          </a:xfrm>
          <a:prstGeom prst="ellipse">
            <a:avLst/>
          </a:prstGeom>
          <a:solidFill>
            <a:srgbClr val="044D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latin typeface="Montserrat" pitchFamily="2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783807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30C82-B482-715B-DFC0-09E1C7320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9A6734B3-21CD-989A-0BAB-9711A3483057}"/>
              </a:ext>
            </a:extLst>
          </p:cNvPr>
          <p:cNvSpPr/>
          <p:nvPr/>
        </p:nvSpPr>
        <p:spPr>
          <a:xfrm>
            <a:off x="0" y="654909"/>
            <a:ext cx="12192000" cy="6203091"/>
          </a:xfrm>
          <a:prstGeom prst="roundRect">
            <a:avLst>
              <a:gd name="adj" fmla="val 4422"/>
            </a:avLst>
          </a:prstGeom>
          <a:solidFill>
            <a:schemeClr val="bg1"/>
          </a:solidFill>
          <a:ln>
            <a:noFill/>
          </a:ln>
          <a:effectLst>
            <a:outerShdw blurRad="249535" sx="100897" sy="100897" algn="ctr" rotWithShape="0">
              <a:prstClr val="black">
                <a:alpha val="4555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2400" dirty="0">
              <a:latin typeface="Montserrat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88D467-1DEC-7C1A-4381-7E554DD8DE8C}"/>
              </a:ext>
            </a:extLst>
          </p:cNvPr>
          <p:cNvSpPr txBox="1"/>
          <p:nvPr/>
        </p:nvSpPr>
        <p:spPr>
          <a:xfrm>
            <a:off x="807720" y="254799"/>
            <a:ext cx="4044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Montserrat" pitchFamily="2" charset="0"/>
              </a:rPr>
              <a:t>Модель</a:t>
            </a: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921FFA09-DCF3-9B04-8D34-E36E41DEE9D6}"/>
              </a:ext>
            </a:extLst>
          </p:cNvPr>
          <p:cNvSpPr/>
          <p:nvPr/>
        </p:nvSpPr>
        <p:spPr>
          <a:xfrm>
            <a:off x="2099383" y="254800"/>
            <a:ext cx="1847777" cy="400109"/>
          </a:xfrm>
          <a:prstGeom prst="roundRect">
            <a:avLst>
              <a:gd name="adj" fmla="val 50000"/>
            </a:avLst>
          </a:prstGeom>
          <a:solidFill>
            <a:srgbClr val="044D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>
                <a:latin typeface="Montserrat" pitchFamily="2" charset="0"/>
              </a:rPr>
              <a:t>CatBoost</a:t>
            </a:r>
            <a:endParaRPr lang="ru-RU" dirty="0">
              <a:latin typeface="Montserrat" pitchFamily="2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480D073-AF91-9D61-21CC-9A7ADB88F3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789"/>
          <a:stretch>
            <a:fillRect/>
          </a:stretch>
        </p:blipFill>
        <p:spPr bwMode="auto">
          <a:xfrm>
            <a:off x="0" y="861182"/>
            <a:ext cx="8307004" cy="2895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95AA3887-B6BB-B88C-6E08-35F7827422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995" r="1283"/>
          <a:stretch>
            <a:fillRect/>
          </a:stretch>
        </p:blipFill>
        <p:spPr bwMode="auto">
          <a:xfrm>
            <a:off x="181985" y="3613475"/>
            <a:ext cx="10398929" cy="3081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F51B4539-B56E-9723-FE1B-2A75C3CFD1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4377" y="1147140"/>
            <a:ext cx="3890250" cy="2609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DF2E3A8E-E09C-163A-E12A-408AC0E03B52}"/>
              </a:ext>
            </a:extLst>
          </p:cNvPr>
          <p:cNvSpPr/>
          <p:nvPr/>
        </p:nvSpPr>
        <p:spPr>
          <a:xfrm>
            <a:off x="4096625" y="254799"/>
            <a:ext cx="1847777" cy="400109"/>
          </a:xfrm>
          <a:prstGeom prst="roundRect">
            <a:avLst>
              <a:gd name="adj" fmla="val 50000"/>
            </a:avLst>
          </a:prstGeom>
          <a:solidFill>
            <a:srgbClr val="044D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Montserrat" pitchFamily="2" charset="0"/>
              </a:rPr>
              <a:t>SHAP</a:t>
            </a:r>
            <a:endParaRPr lang="ru-RU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1032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E3AFF-66D6-0AE6-9069-3B27884F1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F15FB919-3DFE-BF83-A98E-2512C46B11D1}"/>
              </a:ext>
            </a:extLst>
          </p:cNvPr>
          <p:cNvSpPr/>
          <p:nvPr/>
        </p:nvSpPr>
        <p:spPr>
          <a:xfrm>
            <a:off x="0" y="654909"/>
            <a:ext cx="12192000" cy="6203091"/>
          </a:xfrm>
          <a:prstGeom prst="roundRect">
            <a:avLst>
              <a:gd name="adj" fmla="val 4422"/>
            </a:avLst>
          </a:prstGeom>
          <a:solidFill>
            <a:schemeClr val="bg1"/>
          </a:solidFill>
          <a:ln>
            <a:solidFill>
              <a:schemeClr val="tx1">
                <a:alpha val="0"/>
              </a:schemeClr>
            </a:solidFill>
          </a:ln>
          <a:effectLst>
            <a:outerShdw blurRad="249535" sx="100897" sy="100897" algn="ctr" rotWithShape="0">
              <a:prstClr val="black">
                <a:alpha val="4555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2400" dirty="0">
              <a:latin typeface="Montserrat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B3FCEF-29FF-136C-CA0F-3B1462E68FE1}"/>
              </a:ext>
            </a:extLst>
          </p:cNvPr>
          <p:cNvSpPr txBox="1"/>
          <p:nvPr/>
        </p:nvSpPr>
        <p:spPr>
          <a:xfrm>
            <a:off x="807720" y="223065"/>
            <a:ext cx="4044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Montserrat" pitchFamily="2" charset="0"/>
              </a:rPr>
              <a:t>Модель</a:t>
            </a: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70E189FD-544A-22DB-2537-CEBB7CFAB2BB}"/>
              </a:ext>
            </a:extLst>
          </p:cNvPr>
          <p:cNvSpPr/>
          <p:nvPr/>
        </p:nvSpPr>
        <p:spPr>
          <a:xfrm>
            <a:off x="2099383" y="254800"/>
            <a:ext cx="1847777" cy="400109"/>
          </a:xfrm>
          <a:prstGeom prst="roundRect">
            <a:avLst>
              <a:gd name="adj" fmla="val 50000"/>
            </a:avLst>
          </a:prstGeom>
          <a:solidFill>
            <a:srgbClr val="044D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>
                <a:latin typeface="Montserrat" pitchFamily="2" charset="0"/>
              </a:rPr>
              <a:t>CatBoost</a:t>
            </a:r>
            <a:endParaRPr lang="ru-RU" dirty="0">
              <a:latin typeface="Montserrat" pitchFamily="2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21943498-28EA-A3A6-DFE6-0F0F210F039F}"/>
              </a:ext>
            </a:extLst>
          </p:cNvPr>
          <p:cNvSpPr/>
          <p:nvPr/>
        </p:nvSpPr>
        <p:spPr>
          <a:xfrm>
            <a:off x="622323" y="1221574"/>
            <a:ext cx="9183700" cy="5333750"/>
          </a:xfrm>
          <a:prstGeom prst="roundRect">
            <a:avLst>
              <a:gd name="adj" fmla="val 607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CB0EB62D-1BDB-FF45-6094-CF9AF28A1BCA}"/>
              </a:ext>
            </a:extLst>
          </p:cNvPr>
          <p:cNvGraphicFramePr>
            <a:graphicFrameLocks noGrp="1"/>
          </p:cNvGraphicFramePr>
          <p:nvPr/>
        </p:nvGraphicFramePr>
        <p:xfrm>
          <a:off x="900346" y="1338101"/>
          <a:ext cx="8842460" cy="5100696"/>
        </p:xfrm>
        <a:graphic>
          <a:graphicData uri="http://schemas.openxmlformats.org/drawingml/2006/table">
            <a:tbl>
              <a:tblPr/>
              <a:tblGrid>
                <a:gridCol w="2210615">
                  <a:extLst>
                    <a:ext uri="{9D8B030D-6E8A-4147-A177-3AD203B41FA5}">
                      <a16:colId xmlns:a16="http://schemas.microsoft.com/office/drawing/2014/main" val="1526241400"/>
                    </a:ext>
                  </a:extLst>
                </a:gridCol>
                <a:gridCol w="2210615">
                  <a:extLst>
                    <a:ext uri="{9D8B030D-6E8A-4147-A177-3AD203B41FA5}">
                      <a16:colId xmlns:a16="http://schemas.microsoft.com/office/drawing/2014/main" val="2980283389"/>
                    </a:ext>
                  </a:extLst>
                </a:gridCol>
                <a:gridCol w="2210615">
                  <a:extLst>
                    <a:ext uri="{9D8B030D-6E8A-4147-A177-3AD203B41FA5}">
                      <a16:colId xmlns:a16="http://schemas.microsoft.com/office/drawing/2014/main" val="2411754398"/>
                    </a:ext>
                  </a:extLst>
                </a:gridCol>
                <a:gridCol w="2210615">
                  <a:extLst>
                    <a:ext uri="{9D8B030D-6E8A-4147-A177-3AD203B41FA5}">
                      <a16:colId xmlns:a16="http://schemas.microsoft.com/office/drawing/2014/main" val="948872583"/>
                    </a:ext>
                  </a:extLst>
                </a:gridCol>
              </a:tblGrid>
              <a:tr h="7502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b="0" dirty="0">
                          <a:ln>
                            <a:noFill/>
                          </a:ln>
                          <a:latin typeface="Montserrat" pitchFamily="2" charset="0"/>
                        </a:rPr>
                        <a:t>Случай</a:t>
                      </a:r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b="0" dirty="0">
                          <a:ln>
                            <a:noFill/>
                          </a:ln>
                          <a:latin typeface="Montserrat" pitchFamily="2" charset="0"/>
                        </a:rPr>
                        <a:t>Вероятность </a:t>
                      </a:r>
                      <a:r>
                        <a:rPr lang="en-GB" sz="1500" b="0" dirty="0">
                          <a:ln>
                            <a:noFill/>
                          </a:ln>
                          <a:latin typeface="Montserrat" pitchFamily="2" charset="0"/>
                        </a:rPr>
                        <a:t>fatal</a:t>
                      </a:r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b="0" dirty="0">
                          <a:ln>
                            <a:noFill/>
                          </a:ln>
                          <a:latin typeface="Montserrat" pitchFamily="2" charset="0"/>
                        </a:rPr>
                        <a:t>Факторы увеличивают вероятность</a:t>
                      </a:r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b="0" dirty="0">
                          <a:ln>
                            <a:noFill/>
                          </a:ln>
                          <a:latin typeface="Montserrat" pitchFamily="2" charset="0"/>
                        </a:rPr>
                        <a:t>Факторы  уменьшают вероятность</a:t>
                      </a:r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0269853"/>
                  </a:ext>
                </a:extLst>
              </a:tr>
              <a:tr h="975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0" dirty="0">
                          <a:ln>
                            <a:noFill/>
                          </a:ln>
                          <a:latin typeface="Montserrat" pitchFamily="2" charset="0"/>
                        </a:rPr>
                        <a:t>Highest probability</a:t>
                      </a:r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b="0" dirty="0">
                          <a:ln>
                            <a:noFill/>
                          </a:ln>
                          <a:latin typeface="Montserrat" pitchFamily="2" charset="0"/>
                        </a:rPr>
                        <a:t>0.574</a:t>
                      </a:r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b="0">
                          <a:ln>
                            <a:noFill/>
                          </a:ln>
                          <a:latin typeface="Montserrat" pitchFamily="2" charset="0"/>
                        </a:rPr>
                        <a:t>Федеральная дорога (+0.064)</a:t>
                      </a:r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b="0" dirty="0">
                          <a:ln>
                            <a:noFill/>
                          </a:ln>
                          <a:latin typeface="Montserrat" pitchFamily="2" charset="0"/>
                        </a:rPr>
                        <a:t>Светлое время суток (-0.029), гололедица (-0.007), снегопад (-0.005), час ДТП (-0.007)</a:t>
                      </a:r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624865"/>
                  </a:ext>
                </a:extLst>
              </a:tr>
              <a:tr h="1425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500" b="0">
                          <a:ln>
                            <a:noFill/>
                          </a:ln>
                          <a:latin typeface="Montserrat" pitchFamily="2" charset="0"/>
                        </a:rPr>
                        <a:t>Lowest probability</a:t>
                      </a:r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b="0" dirty="0">
                          <a:ln>
                            <a:noFill/>
                          </a:ln>
                          <a:latin typeface="Montserrat" pitchFamily="2" charset="0"/>
                        </a:rPr>
                        <a:t>0.361</a:t>
                      </a:r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b="0" dirty="0">
                          <a:ln>
                            <a:noFill/>
                          </a:ln>
                          <a:latin typeface="Montserrat" pitchFamily="2" charset="0"/>
                        </a:rPr>
                        <a:t>Месяц ДТП (+0.004), средний возраст авто (+0.001)</a:t>
                      </a:r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b="0" dirty="0">
                          <a:ln>
                            <a:noFill/>
                          </a:ln>
                          <a:latin typeface="Montserrat" pitchFamily="2" charset="0"/>
                        </a:rPr>
                        <a:t>Дорога местного значения (-0.098), светлое время суток (-0.027), заснеженная дорога (-0.011), темнота (-0.006)</a:t>
                      </a:r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748516"/>
                  </a:ext>
                </a:extLst>
              </a:tr>
              <a:tr h="1064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b="0" dirty="0">
                          <a:ln>
                            <a:noFill/>
                          </a:ln>
                          <a:latin typeface="Montserrat" pitchFamily="2" charset="0"/>
                        </a:rPr>
                        <a:t>Ошибка модели</a:t>
                      </a:r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b="0">
                          <a:ln>
                            <a:noFill/>
                          </a:ln>
                          <a:latin typeface="Montserrat" pitchFamily="2" charset="0"/>
                        </a:rPr>
                        <a:t>0.547</a:t>
                      </a:r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b="0" dirty="0">
                          <a:ln>
                            <a:noFill/>
                          </a:ln>
                          <a:latin typeface="Montserrat" pitchFamily="2" charset="0"/>
                        </a:rPr>
                        <a:t>Региональная дорога (+0.071), отсутствие освещения ночью (+0.027), сухая дорога (+0.008)</a:t>
                      </a:r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b="0" dirty="0">
                          <a:ln>
                            <a:noFill/>
                          </a:ln>
                          <a:latin typeface="Montserrat" pitchFamily="2" charset="0"/>
                        </a:rPr>
                        <a:t>час ДТП (-0.005), количество ТС (-0.005), темнота (-0.005)</a:t>
                      </a:r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7753108"/>
                  </a:ext>
                </a:extLst>
              </a:tr>
            </a:tbl>
          </a:graphicData>
        </a:graphic>
      </p:graphicFrame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2ADC22A3-707C-E39B-8AF9-BA7188FCE3C8}"/>
              </a:ext>
            </a:extLst>
          </p:cNvPr>
          <p:cNvSpPr/>
          <p:nvPr/>
        </p:nvSpPr>
        <p:spPr>
          <a:xfrm>
            <a:off x="4096625" y="254799"/>
            <a:ext cx="1847777" cy="400109"/>
          </a:xfrm>
          <a:prstGeom prst="roundRect">
            <a:avLst>
              <a:gd name="adj" fmla="val 50000"/>
            </a:avLst>
          </a:prstGeom>
          <a:solidFill>
            <a:srgbClr val="044D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Montserrat" pitchFamily="2" charset="0"/>
              </a:rPr>
              <a:t>LIME</a:t>
            </a:r>
            <a:endParaRPr lang="ru-RU" dirty="0">
              <a:latin typeface="Montserrat" pitchFamily="2" charset="0"/>
            </a:endParaRP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A6286F07-70FF-CEB7-AA31-AF6CF566BD12}"/>
              </a:ext>
            </a:extLst>
          </p:cNvPr>
          <p:cNvCxnSpPr/>
          <p:nvPr/>
        </p:nvCxnSpPr>
        <p:spPr>
          <a:xfrm>
            <a:off x="2857500" y="1355271"/>
            <a:ext cx="0" cy="5200053"/>
          </a:xfrm>
          <a:prstGeom prst="line">
            <a:avLst/>
          </a:prstGeom>
          <a:ln>
            <a:solidFill>
              <a:schemeClr val="tx1">
                <a:alpha val="991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E980871E-4DC9-FC73-4A4C-4F46261F0E9B}"/>
              </a:ext>
            </a:extLst>
          </p:cNvPr>
          <p:cNvCxnSpPr/>
          <p:nvPr/>
        </p:nvCxnSpPr>
        <p:spPr>
          <a:xfrm>
            <a:off x="5067300" y="1338101"/>
            <a:ext cx="0" cy="5200053"/>
          </a:xfrm>
          <a:prstGeom prst="line">
            <a:avLst/>
          </a:prstGeom>
          <a:ln>
            <a:solidFill>
              <a:schemeClr val="tx1">
                <a:alpha val="991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0687173A-97A4-51A8-5688-6F63C1018993}"/>
              </a:ext>
            </a:extLst>
          </p:cNvPr>
          <p:cNvCxnSpPr/>
          <p:nvPr/>
        </p:nvCxnSpPr>
        <p:spPr>
          <a:xfrm>
            <a:off x="7402285" y="1338101"/>
            <a:ext cx="0" cy="5200053"/>
          </a:xfrm>
          <a:prstGeom prst="line">
            <a:avLst/>
          </a:prstGeom>
          <a:ln>
            <a:solidFill>
              <a:schemeClr val="tx1">
                <a:alpha val="991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1892872A-0DB0-436B-E658-2A1D6D00BBAA}"/>
              </a:ext>
            </a:extLst>
          </p:cNvPr>
          <p:cNvCxnSpPr/>
          <p:nvPr/>
        </p:nvCxnSpPr>
        <p:spPr>
          <a:xfrm>
            <a:off x="685533" y="2106386"/>
            <a:ext cx="8842466" cy="0"/>
          </a:xfrm>
          <a:prstGeom prst="line">
            <a:avLst/>
          </a:prstGeom>
          <a:ln>
            <a:solidFill>
              <a:schemeClr val="tx1">
                <a:alpha val="7872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7797A40C-ACE3-0B94-FA5C-D94BC2C66E73}"/>
              </a:ext>
            </a:extLst>
          </p:cNvPr>
          <p:cNvCxnSpPr/>
          <p:nvPr/>
        </p:nvCxnSpPr>
        <p:spPr>
          <a:xfrm>
            <a:off x="721787" y="3287486"/>
            <a:ext cx="8842466" cy="0"/>
          </a:xfrm>
          <a:prstGeom prst="line">
            <a:avLst/>
          </a:prstGeom>
          <a:ln>
            <a:solidFill>
              <a:schemeClr val="tx1">
                <a:alpha val="7872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507E58BE-C2C7-AABF-AC6B-D0729B014E00}"/>
              </a:ext>
            </a:extLst>
          </p:cNvPr>
          <p:cNvCxnSpPr/>
          <p:nvPr/>
        </p:nvCxnSpPr>
        <p:spPr>
          <a:xfrm>
            <a:off x="807720" y="4985657"/>
            <a:ext cx="8842466" cy="0"/>
          </a:xfrm>
          <a:prstGeom prst="line">
            <a:avLst/>
          </a:prstGeom>
          <a:ln>
            <a:solidFill>
              <a:schemeClr val="tx1">
                <a:alpha val="7872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80327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BF78F-D1DB-4E29-A220-73C02AB6B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вал 4">
            <a:extLst>
              <a:ext uri="{FF2B5EF4-FFF2-40B4-BE49-F238E27FC236}">
                <a16:creationId xmlns:a16="http://schemas.microsoft.com/office/drawing/2014/main" id="{AD7AAAEA-F7FC-2E7C-B967-E88634250532}"/>
              </a:ext>
            </a:extLst>
          </p:cNvPr>
          <p:cNvSpPr>
            <a:spLocks noChangeAspect="1"/>
          </p:cNvSpPr>
          <p:nvPr/>
        </p:nvSpPr>
        <p:spPr>
          <a:xfrm>
            <a:off x="342900" y="103658"/>
            <a:ext cx="457200" cy="457200"/>
          </a:xfrm>
          <a:prstGeom prst="ellipse">
            <a:avLst/>
          </a:prstGeom>
          <a:solidFill>
            <a:srgbClr val="044D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latin typeface="Montserrat" pitchFamily="2" charset="0"/>
              </a:rPr>
              <a:t>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BCC9F8-E83A-75A3-87E4-292B616FE1BC}"/>
              </a:ext>
            </a:extLst>
          </p:cNvPr>
          <p:cNvSpPr txBox="1"/>
          <p:nvPr/>
        </p:nvSpPr>
        <p:spPr>
          <a:xfrm>
            <a:off x="850899" y="129058"/>
            <a:ext cx="77020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Montserrat" pitchFamily="2" charset="0"/>
              </a:rPr>
              <a:t>Random Forest: </a:t>
            </a:r>
            <a:r>
              <a:rPr lang="ru-RU" sz="2000" b="1" dirty="0">
                <a:latin typeface="Montserrat" pitchFamily="2" charset="0"/>
              </a:rPr>
              <a:t>анализ важности признаков</a:t>
            </a:r>
            <a:endParaRPr lang="en" sz="2000" b="1" dirty="0">
              <a:latin typeface="Montserrat" pitchFamily="2" charset="0"/>
            </a:endParaRPr>
          </a:p>
          <a:p>
            <a:endParaRPr lang="ru-RU" sz="2000" b="1" dirty="0">
              <a:latin typeface="Montserrat" pitchFamily="2" charset="0"/>
            </a:endParaRP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CD762D34-F6B7-32CF-02C2-1E1219A14F02}"/>
              </a:ext>
            </a:extLst>
          </p:cNvPr>
          <p:cNvCxnSpPr>
            <a:cxnSpLocks/>
          </p:cNvCxnSpPr>
          <p:nvPr/>
        </p:nvCxnSpPr>
        <p:spPr>
          <a:xfrm>
            <a:off x="342900" y="674108"/>
            <a:ext cx="676800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64397177-6FA7-3790-B581-41C140AE0E09}"/>
              </a:ext>
            </a:extLst>
          </p:cNvPr>
          <p:cNvCxnSpPr>
            <a:cxnSpLocks/>
          </p:cNvCxnSpPr>
          <p:nvPr/>
        </p:nvCxnSpPr>
        <p:spPr>
          <a:xfrm>
            <a:off x="4760019" y="674108"/>
            <a:ext cx="676800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EA38D74-5226-2990-40CE-64B56E4DB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914159"/>
            <a:ext cx="5432019" cy="405682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2EFE8EA-BED3-AD27-C169-624B9A395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836944"/>
            <a:ext cx="5638798" cy="42112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2C2098F-CF63-C84C-2DC6-4E64253480FD}"/>
              </a:ext>
            </a:extLst>
          </p:cNvPr>
          <p:cNvSpPr txBox="1"/>
          <p:nvPr/>
        </p:nvSpPr>
        <p:spPr>
          <a:xfrm>
            <a:off x="1798753" y="5288248"/>
            <a:ext cx="8852832" cy="1200329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r>
              <a:rPr lang="ru-RU" sz="2000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Ключевые детерминанты тяжести ДТП</a:t>
            </a:r>
          </a:p>
          <a:p>
            <a:endParaRPr lang="ru-RU" sz="16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  <a:p>
            <a:endParaRPr lang="ru-RU" sz="16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  <a:p>
            <a:r>
              <a:rPr lang="ru-RU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Вид ДТП</a:t>
            </a:r>
          </a:p>
          <a:p>
            <a:r>
              <a:rPr lang="ru-RU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Значение дороги</a:t>
            </a:r>
          </a:p>
          <a:p>
            <a:r>
              <a:rPr lang="ru-RU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День недели</a:t>
            </a:r>
          </a:p>
        </p:txBody>
      </p:sp>
    </p:spTree>
    <p:extLst>
      <p:ext uri="{BB962C8B-B14F-4D97-AF65-F5344CB8AC3E}">
        <p14:creationId xmlns:p14="http://schemas.microsoft.com/office/powerpoint/2010/main" val="552188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1BD34-7148-E75D-EEA1-6A2718213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42D5DCE-48A4-ED2A-1E3A-4CC4E44F7D86}"/>
              </a:ext>
            </a:extLst>
          </p:cNvPr>
          <p:cNvSpPr txBox="1"/>
          <p:nvPr/>
        </p:nvSpPr>
        <p:spPr>
          <a:xfrm>
            <a:off x="850899" y="129058"/>
            <a:ext cx="93413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Montserrat" pitchFamily="2" charset="0"/>
              </a:rPr>
              <a:t>Random Forest</a:t>
            </a:r>
            <a:r>
              <a:rPr lang="ru-RU" sz="2000" b="1" dirty="0">
                <a:latin typeface="Montserrat" pitchFamily="2" charset="0"/>
              </a:rPr>
              <a:t>: частичная зависимость</a:t>
            </a:r>
            <a:endParaRPr lang="en" sz="2000" b="1" dirty="0">
              <a:latin typeface="Montserrat" pitchFamily="2" charset="0"/>
            </a:endParaRPr>
          </a:p>
          <a:p>
            <a:endParaRPr lang="ru-RU" sz="2000" b="1" dirty="0">
              <a:latin typeface="Montserrat" pitchFamily="2" charset="0"/>
            </a:endParaRP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C606AC2-B23B-BA90-9437-238BE3291BB4}"/>
              </a:ext>
            </a:extLst>
          </p:cNvPr>
          <p:cNvCxnSpPr>
            <a:cxnSpLocks/>
          </p:cNvCxnSpPr>
          <p:nvPr/>
        </p:nvCxnSpPr>
        <p:spPr>
          <a:xfrm>
            <a:off x="342900" y="674108"/>
            <a:ext cx="676800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8E374578-BADE-C933-A0AB-FAE6B6A0133D}"/>
              </a:ext>
            </a:extLst>
          </p:cNvPr>
          <p:cNvCxnSpPr>
            <a:cxnSpLocks/>
          </p:cNvCxnSpPr>
          <p:nvPr/>
        </p:nvCxnSpPr>
        <p:spPr>
          <a:xfrm>
            <a:off x="4760019" y="674108"/>
            <a:ext cx="676800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B370CFA-550A-91D6-5EBF-FCE971631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90" y="890610"/>
            <a:ext cx="5721818" cy="3987933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3992310-079F-ABF7-9B15-E1DFB8661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890610"/>
            <a:ext cx="5807310" cy="40475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A63076-6D94-4D17-EE13-9D143F52894E}"/>
              </a:ext>
            </a:extLst>
          </p:cNvPr>
          <p:cNvSpPr txBox="1"/>
          <p:nvPr/>
        </p:nvSpPr>
        <p:spPr>
          <a:xfrm>
            <a:off x="1798753" y="5288248"/>
            <a:ext cx="8852832" cy="1200329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r>
              <a:rPr lang="ru-RU" sz="2000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Подтверждение ранних взаимосвязей</a:t>
            </a:r>
            <a:endParaRPr lang="ru-RU" sz="16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  <a:p>
            <a:endParaRPr lang="ru-RU" sz="16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  <a:p>
            <a:endParaRPr lang="ru-RU" sz="16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  <a:p>
            <a:r>
              <a:rPr lang="ru-RU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Риск выше в ночные и ранние часы</a:t>
            </a:r>
          </a:p>
          <a:p>
            <a:r>
              <a:rPr lang="ru-RU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Сезонность с октября фатальность учащается</a:t>
            </a:r>
          </a:p>
          <a:p>
            <a:r>
              <a:rPr lang="ru-RU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Риск повышается к концу недели</a:t>
            </a:r>
          </a:p>
        </p:txBody>
      </p:sp>
    </p:spTree>
    <p:extLst>
      <p:ext uri="{BB962C8B-B14F-4D97-AF65-F5344CB8AC3E}">
        <p14:creationId xmlns:p14="http://schemas.microsoft.com/office/powerpoint/2010/main" val="23749259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61063-EB05-ED6A-089C-ED14AD0EB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8EB58F1A-04AE-BFF8-A1B4-107E2A1755DF}"/>
              </a:ext>
            </a:extLst>
          </p:cNvPr>
          <p:cNvSpPr/>
          <p:nvPr/>
        </p:nvSpPr>
        <p:spPr>
          <a:xfrm>
            <a:off x="-31820" y="691592"/>
            <a:ext cx="12255638" cy="4281199"/>
          </a:xfrm>
          <a:prstGeom prst="roundRect">
            <a:avLst>
              <a:gd name="adj" fmla="val 607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3F69C39F-A3A1-10CD-5A59-BE3B6311E00B}"/>
              </a:ext>
            </a:extLst>
          </p:cNvPr>
          <p:cNvSpPr>
            <a:spLocks noChangeAspect="1"/>
          </p:cNvSpPr>
          <p:nvPr/>
        </p:nvSpPr>
        <p:spPr>
          <a:xfrm>
            <a:off x="342900" y="103658"/>
            <a:ext cx="457200" cy="457200"/>
          </a:xfrm>
          <a:prstGeom prst="ellipse">
            <a:avLst/>
          </a:prstGeom>
          <a:solidFill>
            <a:srgbClr val="044D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latin typeface="Montserrat" pitchFamily="2" charset="0"/>
              </a:rPr>
              <a:t>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5AAEB3-2E83-3FC7-384E-934528C8C9E8}"/>
              </a:ext>
            </a:extLst>
          </p:cNvPr>
          <p:cNvSpPr txBox="1"/>
          <p:nvPr/>
        </p:nvSpPr>
        <p:spPr>
          <a:xfrm>
            <a:off x="850900" y="129058"/>
            <a:ext cx="4044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Montserrat" pitchFamily="2" charset="0"/>
              </a:rPr>
              <a:t>Сравнения и выводы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AD3E56-9647-7BC1-194D-71EFB6E5043E}"/>
              </a:ext>
            </a:extLst>
          </p:cNvPr>
          <p:cNvSpPr txBox="1"/>
          <p:nvPr/>
        </p:nvSpPr>
        <p:spPr>
          <a:xfrm>
            <a:off x="212267" y="903530"/>
            <a:ext cx="38131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ru-RU" sz="1600" b="1" dirty="0">
                <a:latin typeface="Montserrat" pitchFamily="2" charset="0"/>
              </a:rPr>
              <a:t>Структура аварийности</a:t>
            </a: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AC432D4C-C689-5277-C62C-8E35333A3C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606058"/>
              </p:ext>
            </p:extLst>
          </p:nvPr>
        </p:nvGraphicFramePr>
        <p:xfrm>
          <a:off x="212267" y="5082379"/>
          <a:ext cx="6844555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911">
                  <a:extLst>
                    <a:ext uri="{9D8B030D-6E8A-4147-A177-3AD203B41FA5}">
                      <a16:colId xmlns:a16="http://schemas.microsoft.com/office/drawing/2014/main" val="486544282"/>
                    </a:ext>
                  </a:extLst>
                </a:gridCol>
                <a:gridCol w="1368911">
                  <a:extLst>
                    <a:ext uri="{9D8B030D-6E8A-4147-A177-3AD203B41FA5}">
                      <a16:colId xmlns:a16="http://schemas.microsoft.com/office/drawing/2014/main" val="3823739651"/>
                    </a:ext>
                  </a:extLst>
                </a:gridCol>
                <a:gridCol w="1368911">
                  <a:extLst>
                    <a:ext uri="{9D8B030D-6E8A-4147-A177-3AD203B41FA5}">
                      <a16:colId xmlns:a16="http://schemas.microsoft.com/office/drawing/2014/main" val="216748753"/>
                    </a:ext>
                  </a:extLst>
                </a:gridCol>
                <a:gridCol w="1368911">
                  <a:extLst>
                    <a:ext uri="{9D8B030D-6E8A-4147-A177-3AD203B41FA5}">
                      <a16:colId xmlns:a16="http://schemas.microsoft.com/office/drawing/2014/main" val="2629319681"/>
                    </a:ext>
                  </a:extLst>
                </a:gridCol>
                <a:gridCol w="1368911">
                  <a:extLst>
                    <a:ext uri="{9D8B030D-6E8A-4147-A177-3AD203B41FA5}">
                      <a16:colId xmlns:a16="http://schemas.microsoft.com/office/drawing/2014/main" val="3166755702"/>
                    </a:ext>
                  </a:extLst>
                </a:gridCol>
              </a:tblGrid>
              <a:tr h="294889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Montserrat" pitchFamily="2" charset="0"/>
                        </a:rPr>
                        <a:t>Модель</a:t>
                      </a:r>
                    </a:p>
                  </a:txBody>
                  <a:tcPr anchor="ctr">
                    <a:solidFill>
                      <a:srgbClr val="044DB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 sz="1600">
                          <a:latin typeface="Montserrat" pitchFamily="2" charset="0"/>
                        </a:rPr>
                        <a:t>ROC-AUC</a:t>
                      </a:r>
                    </a:p>
                  </a:txBody>
                  <a:tcPr anchor="ctr">
                    <a:solidFill>
                      <a:srgbClr val="044DB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 sz="1600">
                          <a:latin typeface="Montserrat" pitchFamily="2" charset="0"/>
                        </a:rPr>
                        <a:t>PR-AUC</a:t>
                      </a:r>
                    </a:p>
                  </a:txBody>
                  <a:tcPr anchor="ctr">
                    <a:solidFill>
                      <a:srgbClr val="044DB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 sz="1600" dirty="0">
                          <a:latin typeface="Montserrat" pitchFamily="2" charset="0"/>
                        </a:rPr>
                        <a:t>Recall</a:t>
                      </a:r>
                    </a:p>
                  </a:txBody>
                  <a:tcPr anchor="ctr">
                    <a:solidFill>
                      <a:srgbClr val="044DB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 sz="1600" dirty="0">
                          <a:latin typeface="Montserrat" pitchFamily="2" charset="0"/>
                        </a:rPr>
                        <a:t>Precision</a:t>
                      </a:r>
                    </a:p>
                  </a:txBody>
                  <a:tcPr anchor="ctr">
                    <a:solidFill>
                      <a:srgbClr val="044D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147170"/>
                  </a:ext>
                </a:extLst>
              </a:tr>
              <a:tr h="294889">
                <a:tc>
                  <a:txBody>
                    <a:bodyPr/>
                    <a:lstStyle/>
                    <a:p>
                      <a:r>
                        <a:rPr lang="en" sz="1600">
                          <a:latin typeface="Montserrat" pitchFamily="2" charset="0"/>
                        </a:rPr>
                        <a:t>Logit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Montserrat" pitchFamily="2" charset="0"/>
                        </a:rPr>
                        <a:t>~0.67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latin typeface="Montserrat" pitchFamily="2" charset="0"/>
                        </a:rPr>
                        <a:t>~0.26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latin typeface="Montserrat" pitchFamily="2" charset="0"/>
                        </a:rPr>
                        <a:t>низкий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Montserrat" pitchFamily="2" charset="0"/>
                        </a:rPr>
                        <a:t>выше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3929484"/>
                  </a:ext>
                </a:extLst>
              </a:tr>
              <a:tr h="294889">
                <a:tc>
                  <a:txBody>
                    <a:bodyPr/>
                    <a:lstStyle/>
                    <a:p>
                      <a:r>
                        <a:rPr lang="en" sz="1600">
                          <a:latin typeface="Montserrat" pitchFamily="2" charset="0"/>
                        </a:rPr>
                        <a:t>GAM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latin typeface="Montserrat" pitchFamily="2" charset="0"/>
                        </a:rPr>
                        <a:t>~0.66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latin typeface="Montserrat" pitchFamily="2" charset="0"/>
                        </a:rPr>
                        <a:t>~0.24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latin typeface="Montserrat" pitchFamily="2" charset="0"/>
                        </a:rPr>
                        <a:t>высокий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Montserrat" pitchFamily="2" charset="0"/>
                        </a:rPr>
                        <a:t>низкий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5697438"/>
                  </a:ext>
                </a:extLst>
              </a:tr>
              <a:tr h="294889">
                <a:tc>
                  <a:txBody>
                    <a:bodyPr/>
                    <a:lstStyle/>
                    <a:p>
                      <a:r>
                        <a:rPr lang="en" sz="1600">
                          <a:latin typeface="Montserrat" pitchFamily="2" charset="0"/>
                        </a:rPr>
                        <a:t>CatBoost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latin typeface="Montserrat" pitchFamily="2" charset="0"/>
                        </a:rPr>
                        <a:t>~0.72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latin typeface="Montserrat" pitchFamily="2" charset="0"/>
                        </a:rPr>
                        <a:t>~0.30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latin typeface="Montserrat" pitchFamily="2" charset="0"/>
                        </a:rPr>
                        <a:t>высокий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Montserrat" pitchFamily="2" charset="0"/>
                        </a:rPr>
                        <a:t>низкий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917905"/>
                  </a:ext>
                </a:extLst>
              </a:tr>
              <a:tr h="294889">
                <a:tc>
                  <a:txBody>
                    <a:bodyPr/>
                    <a:lstStyle/>
                    <a:p>
                      <a:r>
                        <a:rPr lang="en" sz="1600">
                          <a:latin typeface="Montserrat" pitchFamily="2" charset="0"/>
                        </a:rPr>
                        <a:t>RF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latin typeface="Montserrat" pitchFamily="2" charset="0"/>
                        </a:rPr>
                        <a:t>~0.74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latin typeface="Montserrat" pitchFamily="2" charset="0"/>
                        </a:rPr>
                        <a:t>~0.30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latin typeface="Montserrat" pitchFamily="2" charset="0"/>
                        </a:rPr>
                        <a:t>высокий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Montserrat" pitchFamily="2" charset="0"/>
                        </a:rPr>
                        <a:t>низкий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470419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96BF4C08-1A8E-9300-5E53-2A11DC74887B}"/>
              </a:ext>
            </a:extLst>
          </p:cNvPr>
          <p:cNvSpPr txBox="1"/>
          <p:nvPr/>
        </p:nvSpPr>
        <p:spPr>
          <a:xfrm>
            <a:off x="212267" y="1349236"/>
            <a:ext cx="45723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Пик ДТП приходится на вечерние часы, а также на конец недели. Почти 75% всех происшествий формируют три типа аварий — столкновения (29,3%), наезды на пешеходов (27,7%) и съезды с дороги (19%).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F5824E-FED9-B12B-5AA6-C2AD69D896D4}"/>
              </a:ext>
            </a:extLst>
          </p:cNvPr>
          <p:cNvSpPr txBox="1"/>
          <p:nvPr/>
        </p:nvSpPr>
        <p:spPr>
          <a:xfrm>
            <a:off x="4841704" y="1242084"/>
            <a:ext cx="713802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Детерминанты риска:</a:t>
            </a:r>
          </a:p>
          <a:p>
            <a:r>
              <a:rPr lang="ru-RU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1. Наезд на пешехода и велосипедиста существенно повышают вероятность фатального исхода;</a:t>
            </a:r>
          </a:p>
          <a:p>
            <a:r>
              <a:rPr lang="ru-RU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2. Съезд с дороги и наличие грузового транспорта увеличивают шансы погибнуть;</a:t>
            </a:r>
          </a:p>
          <a:p>
            <a:r>
              <a:rPr lang="ru-RU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3. Тёмное время суток связано с ростом риска;</a:t>
            </a:r>
          </a:p>
          <a:p>
            <a:r>
              <a:rPr lang="ru-RU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значение дороги является ключевым фактором.</a:t>
            </a:r>
          </a:p>
          <a:p>
            <a:endParaRPr lang="ru-RU" sz="12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  <a:p>
            <a:r>
              <a:rPr lang="ru-RU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При этом качество модели остаётся умеренным (</a:t>
            </a:r>
            <a:r>
              <a:rPr lang="en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ROC-AUC ≈ 0.67–0.69), </a:t>
            </a:r>
            <a:r>
              <a:rPr lang="ru-RU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что указывает на сложность задачи.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7BB5D7-64E0-80B8-B91B-DE4C3D6388AF}"/>
              </a:ext>
            </a:extLst>
          </p:cNvPr>
          <p:cNvSpPr txBox="1"/>
          <p:nvPr/>
        </p:nvSpPr>
        <p:spPr>
          <a:xfrm>
            <a:off x="4841704" y="903530"/>
            <a:ext cx="38131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ru-RU" sz="1600" b="1" dirty="0">
                <a:latin typeface="Montserrat" pitchFamily="2" charset="0"/>
              </a:rPr>
              <a:t>Линейные модели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7039E0-7D2A-FBD2-CE50-06C4B17D93D4}"/>
              </a:ext>
            </a:extLst>
          </p:cNvPr>
          <p:cNvSpPr txBox="1"/>
          <p:nvPr/>
        </p:nvSpPr>
        <p:spPr>
          <a:xfrm>
            <a:off x="212267" y="2573797"/>
            <a:ext cx="38131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ru-RU" sz="1600" b="1" dirty="0">
                <a:latin typeface="Montserrat" pitchFamily="2" charset="0"/>
              </a:rPr>
              <a:t>Нелинейности и </a:t>
            </a:r>
            <a:r>
              <a:rPr lang="en-US" sz="1600" b="1" dirty="0">
                <a:latin typeface="Montserrat" pitchFamily="2" charset="0"/>
              </a:rPr>
              <a:t>ML</a:t>
            </a:r>
            <a:r>
              <a:rPr lang="ru-RU" sz="1600" b="1" dirty="0">
                <a:latin typeface="Montserrat" pitchFamily="2" charset="0"/>
              </a:rPr>
              <a:t> модели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08600C-4523-0F30-C876-E453C1D0F1DE}"/>
              </a:ext>
            </a:extLst>
          </p:cNvPr>
          <p:cNvSpPr txBox="1"/>
          <p:nvPr/>
        </p:nvSpPr>
        <p:spPr>
          <a:xfrm>
            <a:off x="7419283" y="5031574"/>
            <a:ext cx="38131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ru-RU" sz="1600" b="1" dirty="0">
                <a:latin typeface="Montserrat" pitchFamily="2" charset="0"/>
              </a:rPr>
              <a:t>Вывод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6688CA-B6C5-AB1E-7A0B-C96791577F23}"/>
              </a:ext>
            </a:extLst>
          </p:cNvPr>
          <p:cNvSpPr txBox="1"/>
          <p:nvPr/>
        </p:nvSpPr>
        <p:spPr>
          <a:xfrm>
            <a:off x="212267" y="2984428"/>
            <a:ext cx="734263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GAM </a:t>
            </a:r>
            <a:r>
              <a:rPr lang="ru-RU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и ансамблевые методы (</a:t>
            </a:r>
            <a:r>
              <a:rPr lang="en" sz="12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CatBoost</a:t>
            </a:r>
            <a:r>
              <a:rPr lang="en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, Random Forest) </a:t>
            </a:r>
            <a:r>
              <a:rPr lang="ru-RU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выявляют выраженные нелинейные эффекты:</a:t>
            </a:r>
          </a:p>
          <a:p>
            <a:r>
              <a:rPr lang="en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U-</a:t>
            </a:r>
            <a:r>
              <a:rPr lang="ru-RU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образная зависимость риска от времени суток;</a:t>
            </a:r>
          </a:p>
          <a:p>
            <a:r>
              <a:rPr lang="ru-RU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сезонный рост вероятности к осени;</a:t>
            </a:r>
          </a:p>
          <a:p>
            <a:r>
              <a:rPr lang="ru-RU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ступенчатый рост риска при увеличении числа транспортных средств;</a:t>
            </a:r>
          </a:p>
          <a:p>
            <a:r>
              <a:rPr lang="ru-RU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неоднородность эффекта типа дороги.</a:t>
            </a:r>
          </a:p>
          <a:p>
            <a:r>
              <a:rPr lang="ru-RU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Ансамблевые модели обеспечивают более высокое качество ранжирования (до </a:t>
            </a:r>
            <a:r>
              <a:rPr lang="en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ROC-AUC ≈ 0.74), </a:t>
            </a:r>
            <a:r>
              <a:rPr lang="ru-RU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однако сохраняют проблему большого числа ложноположительных прогнозов.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3F02CB-04B0-1761-4DC4-E7185D9BE6E3}"/>
              </a:ext>
            </a:extLst>
          </p:cNvPr>
          <p:cNvSpPr txBox="1"/>
          <p:nvPr/>
        </p:nvSpPr>
        <p:spPr>
          <a:xfrm>
            <a:off x="7419283" y="5416340"/>
            <a:ext cx="419798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Методы машинного обучения позволяют выявлять более сложную и нелинейную структуру факторов риска по сравнению с линейной логистической регрессией, однако их преимущество проявляется прежде всего в более точном ранжировании риска, а не в радикальном росте прогностической точности.</a:t>
            </a:r>
          </a:p>
          <a:p>
            <a:endParaRPr lang="ru-RU" sz="12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1B7E5A-2477-86E7-2180-E8D3692580FC}"/>
              </a:ext>
            </a:extLst>
          </p:cNvPr>
          <p:cNvSpPr txBox="1"/>
          <p:nvPr/>
        </p:nvSpPr>
        <p:spPr>
          <a:xfrm>
            <a:off x="7611726" y="3019411"/>
            <a:ext cx="38131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ru-RU" sz="1600" b="1" dirty="0">
                <a:latin typeface="Montserrat" pitchFamily="2" charset="0"/>
              </a:rPr>
              <a:t>Сравнение спецификаций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5557277-3CAE-0726-6ABB-434A769CE7E3}"/>
              </a:ext>
            </a:extLst>
          </p:cNvPr>
          <p:cNvSpPr txBox="1"/>
          <p:nvPr/>
        </p:nvSpPr>
        <p:spPr>
          <a:xfrm>
            <a:off x="7611464" y="3428149"/>
            <a:ext cx="387947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Расширение набора признаков (</a:t>
            </a:r>
            <a:r>
              <a:rPr lang="en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EXTENDED) </a:t>
            </a:r>
            <a:r>
              <a:rPr lang="ru-RU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не даёт устойчивого прироста качества и частично добавляет шум. Наиболее стабильной и интерпретируемой оказывается компактная спецификация </a:t>
            </a:r>
            <a:r>
              <a:rPr lang="en" sz="12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STRICT.</a:t>
            </a:r>
          </a:p>
          <a:p>
            <a:endParaRPr lang="ru-RU" sz="12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970056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909</TotalTime>
  <Words>841</Words>
  <Application>Microsoft Macintosh PowerPoint</Application>
  <PresentationFormat>Широкоэкранный</PresentationFormat>
  <Paragraphs>188</Paragraphs>
  <Slides>12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Montserrat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Килин Матвей Дмитриевич</dc:creator>
  <cp:lastModifiedBy>Емельяненко Мари Михайловна</cp:lastModifiedBy>
  <cp:revision>34</cp:revision>
  <dcterms:created xsi:type="dcterms:W3CDTF">2025-05-17T13:57:39Z</dcterms:created>
  <dcterms:modified xsi:type="dcterms:W3CDTF">2026-03-04T11:20:08Z</dcterms:modified>
</cp:coreProperties>
</file>